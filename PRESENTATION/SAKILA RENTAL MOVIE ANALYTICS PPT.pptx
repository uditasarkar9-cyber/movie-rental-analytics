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2" r:id="rId8"/>
    <p:sldId id="281" r:id="rId9"/>
    <p:sldId id="314" r:id="rId10"/>
    <p:sldId id="315" r:id="rId11"/>
    <p:sldId id="319" r:id="rId12"/>
    <p:sldId id="317" r:id="rId13"/>
    <p:sldId id="318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754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17160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57215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2959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63946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84587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DD9B6F3-A652-E986-DEF4-A78E22FDF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63E7B88-1210-0C9C-0898-CAD302AEB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86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81E2B9C-DE66-E837-1A41-6B5592F83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99CA270-F3B6-D1C1-F717-853A54F16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2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EA08729-11D5-F4FE-A25E-758EFF14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30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619D2D-7CC9-6B99-5F6D-EB9CC174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97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2124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67493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788360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8052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5848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7641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77514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13697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43307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332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274635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38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201403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0717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8353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6966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4072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313293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5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010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689" r:id="rId28"/>
    <p:sldLayoutId id="2147483691" r:id="rId29"/>
    <p:sldLayoutId id="2147483692" r:id="rId3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/>
              <a:t>MOVIE RENTAL</a:t>
            </a:r>
            <a:br>
              <a:rPr lang="en-US" dirty="0"/>
            </a:br>
            <a:r>
              <a:rPr lang="en-US" dirty="0"/>
              <a:t>ANALYTICS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842A2-4074-953B-8E7E-535764EF045C}"/>
              </a:ext>
            </a:extLst>
          </p:cNvPr>
          <p:cNvSpPr txBox="1"/>
          <p:nvPr/>
        </p:nvSpPr>
        <p:spPr>
          <a:xfrm>
            <a:off x="4732256" y="3836710"/>
            <a:ext cx="2771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Power BI Project using Sakila DVD Rental Database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30" y="163009"/>
            <a:ext cx="6583680" cy="1531357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278" y="1825328"/>
            <a:ext cx="6583680" cy="32073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• Introduction</a:t>
            </a:r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• Dataset Overview</a:t>
            </a:r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• Data Modeling &amp; Relationships</a:t>
            </a:r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• Customer Analytics</a:t>
            </a:r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• Film Analytics</a:t>
            </a:r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• Sales Analytics</a:t>
            </a:r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• Inventory &amp; Staff Analytics</a:t>
            </a:r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• Key Findings</a:t>
            </a:r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•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802567"/>
            <a:ext cx="5723586" cy="536039"/>
          </a:xfrm>
        </p:spPr>
        <p:txBody>
          <a:bodyPr/>
          <a:lstStyle/>
          <a:p>
            <a:r>
              <a:rPr lang="en-US" dirty="0"/>
              <a:t>Data Modeling &amp; Relationships</a:t>
            </a:r>
            <a:br>
              <a:rPr lang="en-US" dirty="0"/>
            </a:br>
            <a:br>
              <a:rPr lang="en-US" dirty="0"/>
            </a:br>
            <a:endParaRPr lang="en-US" sz="1200" b="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5B09D5-35A1-A826-36F2-C8A237DB051C}"/>
              </a:ext>
            </a:extLst>
          </p:cNvPr>
          <p:cNvSpPr txBox="1"/>
          <p:nvPr/>
        </p:nvSpPr>
        <p:spPr>
          <a:xfrm>
            <a:off x="5608173" y="1808116"/>
            <a:ext cx="55343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202C8F"/>
                </a:solidFill>
              </a:rPr>
              <a:t>The Sakila database follows a relational data model connecting customers, rentals, payments, films, categories, inventory, staff, and store information.</a:t>
            </a:r>
          </a:p>
          <a:p>
            <a:endParaRPr lang="en-IN" dirty="0">
              <a:solidFill>
                <a:srgbClr val="202C8F"/>
              </a:solidFill>
            </a:endParaRPr>
          </a:p>
          <a:p>
            <a:r>
              <a:rPr lang="en-IN" dirty="0">
                <a:solidFill>
                  <a:srgbClr val="202C8F"/>
                </a:solidFill>
              </a:rPr>
              <a:t>Key Relationships:</a:t>
            </a:r>
          </a:p>
          <a:p>
            <a:r>
              <a:rPr lang="en-IN" dirty="0">
                <a:solidFill>
                  <a:srgbClr val="202C8F"/>
                </a:solidFill>
              </a:rPr>
              <a:t>• Customer → Rental → Payment</a:t>
            </a:r>
          </a:p>
          <a:p>
            <a:r>
              <a:rPr lang="en-IN" dirty="0">
                <a:solidFill>
                  <a:srgbClr val="202C8F"/>
                </a:solidFill>
              </a:rPr>
              <a:t>• Film → Inventory → Rental</a:t>
            </a:r>
          </a:p>
          <a:p>
            <a:r>
              <a:rPr lang="en-IN" dirty="0">
                <a:solidFill>
                  <a:srgbClr val="202C8F"/>
                </a:solidFill>
              </a:rPr>
              <a:t>• Film → Film Category → Category</a:t>
            </a:r>
          </a:p>
          <a:p>
            <a:r>
              <a:rPr lang="en-IN" dirty="0">
                <a:solidFill>
                  <a:srgbClr val="202C8F"/>
                </a:solidFill>
              </a:rPr>
              <a:t>• Film → Language</a:t>
            </a:r>
          </a:p>
          <a:p>
            <a:r>
              <a:rPr lang="en-IN" dirty="0">
                <a:solidFill>
                  <a:srgbClr val="202C8F"/>
                </a:solidFill>
              </a:rPr>
              <a:t>• Customer → Address → City → Country</a:t>
            </a:r>
          </a:p>
          <a:p>
            <a:r>
              <a:rPr lang="en-IN" dirty="0">
                <a:solidFill>
                  <a:srgbClr val="202C8F"/>
                </a:solidFill>
              </a:rPr>
              <a:t>• Store → Staff</a:t>
            </a:r>
          </a:p>
          <a:p>
            <a:endParaRPr lang="en-IN" dirty="0">
              <a:solidFill>
                <a:srgbClr val="202C8F"/>
              </a:solidFill>
            </a:endParaRPr>
          </a:p>
          <a:p>
            <a:r>
              <a:rPr lang="en-IN" dirty="0">
                <a:solidFill>
                  <a:srgbClr val="202C8F"/>
                </a:solidFill>
              </a:rPr>
              <a:t>The data model enables efficient analysis of revenue trends, customer </a:t>
            </a:r>
            <a:r>
              <a:rPr lang="en-IN" dirty="0" err="1">
                <a:solidFill>
                  <a:srgbClr val="202C8F"/>
                </a:solidFill>
              </a:rPr>
              <a:t>behavior</a:t>
            </a:r>
            <a:r>
              <a:rPr lang="en-IN" dirty="0">
                <a:solidFill>
                  <a:srgbClr val="202C8F"/>
                </a:solidFill>
              </a:rPr>
              <a:t>, inventory management, and geographical insights.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40D06-5BD3-E6E2-6549-98DB248F2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7" y="0"/>
            <a:ext cx="4930218" cy="643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439" y="928688"/>
            <a:ext cx="7965461" cy="994164"/>
          </a:xfrm>
        </p:spPr>
        <p:txBody>
          <a:bodyPr/>
          <a:lstStyle/>
          <a:p>
            <a:r>
              <a:rPr lang="en-US" dirty="0"/>
              <a:t>CUSTOMER ANALYTICS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2611" y="2303029"/>
            <a:ext cx="7965460" cy="29854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This analyzes customer behavior, rental patterns, and customer contribution to revenue.</a:t>
            </a:r>
          </a:p>
          <a:p>
            <a:pPr marL="0" indent="0">
              <a:buNone/>
            </a:pPr>
            <a:r>
              <a:rPr lang="en-US" dirty="0"/>
              <a:t>Key Insights:</a:t>
            </a:r>
          </a:p>
          <a:p>
            <a:pPr marL="0" indent="0">
              <a:buNone/>
            </a:pPr>
            <a:r>
              <a:rPr lang="en-US" dirty="0"/>
              <a:t>• Top customers generated the highest rental revenue.</a:t>
            </a:r>
          </a:p>
          <a:p>
            <a:pPr marL="0" indent="0">
              <a:buNone/>
            </a:pPr>
            <a:r>
              <a:rPr lang="en-US" dirty="0"/>
              <a:t>• Customer distribution varies across countries and cities.</a:t>
            </a:r>
          </a:p>
          <a:p>
            <a:pPr marL="0" indent="0">
              <a:buNone/>
            </a:pPr>
            <a:r>
              <a:rPr lang="en-US" dirty="0"/>
              <a:t>• Repeat customers contributed significantly to total rentals.</a:t>
            </a:r>
          </a:p>
          <a:p>
            <a:pPr marL="0" indent="0">
              <a:buNone/>
            </a:pPr>
            <a:r>
              <a:rPr lang="en-US" dirty="0"/>
              <a:t>• Revenue contribution is concentrated among a small customer segment.</a:t>
            </a:r>
          </a:p>
          <a:p>
            <a:pPr marL="0" indent="0">
              <a:buNone/>
            </a:pPr>
            <a:r>
              <a:rPr lang="en-US" dirty="0"/>
              <a:t>Visuals Included:</a:t>
            </a:r>
          </a:p>
          <a:p>
            <a:pPr marL="0" indent="0">
              <a:buNone/>
            </a:pPr>
            <a:r>
              <a:rPr lang="en-US" dirty="0"/>
              <a:t>• Customer Revenue Analysis</a:t>
            </a:r>
          </a:p>
          <a:p>
            <a:pPr marL="0" indent="0">
              <a:buNone/>
            </a:pPr>
            <a:r>
              <a:rPr lang="en-US" dirty="0"/>
              <a:t>• Top Customers by Revenue</a:t>
            </a:r>
          </a:p>
          <a:p>
            <a:pPr marL="0" indent="0">
              <a:buNone/>
            </a:pPr>
            <a:r>
              <a:rPr lang="en-US" dirty="0"/>
              <a:t>• Country-wise Customer Distribution</a:t>
            </a:r>
          </a:p>
          <a:p>
            <a:pPr marL="0" indent="0">
              <a:buNone/>
            </a:pPr>
            <a:r>
              <a:rPr lang="en-US" dirty="0"/>
              <a:t>• Customer Segmentation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399AC-0EE6-4018-4F71-584B339E2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8" y="0"/>
            <a:ext cx="4172405" cy="259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1167451"/>
          </a:xfrm>
        </p:spPr>
        <p:txBody>
          <a:bodyPr/>
          <a:lstStyle/>
          <a:p>
            <a:r>
              <a:rPr lang="en-US" dirty="0"/>
              <a:t>FILM ANALYTICS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AF3C4F-628E-53FF-DEED-56BCFCC70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07851"/>
            <a:ext cx="5259554" cy="3826961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This focuses on film performance, category analysis, rental duration, and inventory insights.</a:t>
            </a:r>
          </a:p>
          <a:p>
            <a:endParaRPr lang="en-US" sz="1800" dirty="0"/>
          </a:p>
          <a:p>
            <a:r>
              <a:rPr lang="en-US" sz="1800" dirty="0"/>
              <a:t>Key Insights:</a:t>
            </a:r>
          </a:p>
          <a:p>
            <a:r>
              <a:rPr lang="en-US" sz="1800" dirty="0"/>
              <a:t>• Certain film categories generated higher rental revenue.</a:t>
            </a:r>
          </a:p>
          <a:p>
            <a:r>
              <a:rPr lang="en-US" sz="1800" dirty="0"/>
              <a:t>• Popular films had higher rental frequency.</a:t>
            </a:r>
          </a:p>
          <a:p>
            <a:r>
              <a:rPr lang="en-US" sz="1800" dirty="0"/>
              <a:t>• Rental duration varied significantly across categories.</a:t>
            </a:r>
          </a:p>
          <a:p>
            <a:r>
              <a:rPr lang="en-US" sz="1800" dirty="0"/>
              <a:t>• Inventory distribution differed by film category.</a:t>
            </a:r>
          </a:p>
          <a:p>
            <a:endParaRPr lang="en-US" sz="1800" dirty="0"/>
          </a:p>
          <a:p>
            <a:r>
              <a:rPr lang="en-US" sz="1800" dirty="0"/>
              <a:t>Visuals Included:</a:t>
            </a:r>
          </a:p>
          <a:p>
            <a:r>
              <a:rPr lang="en-US" sz="1800" dirty="0"/>
              <a:t>• Film Category Analysis</a:t>
            </a:r>
          </a:p>
          <a:p>
            <a:r>
              <a:rPr lang="en-US" sz="1800" dirty="0"/>
              <a:t>• Rental Duration Comparison</a:t>
            </a:r>
          </a:p>
          <a:p>
            <a:r>
              <a:rPr lang="en-US" sz="1800" dirty="0"/>
              <a:t>• Film Language Distribution</a:t>
            </a:r>
          </a:p>
          <a:p>
            <a:r>
              <a:rPr lang="en-US" sz="1800" dirty="0"/>
              <a:t>• Inventory Breakdown</a:t>
            </a:r>
          </a:p>
          <a:p>
            <a:r>
              <a:rPr lang="en-US" sz="1800" dirty="0"/>
              <a:t>• Top Performing Films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28F28-A25D-A913-6D98-00D327D5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11" y="448323"/>
            <a:ext cx="4833003" cy="238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471489"/>
          </a:xfrm>
        </p:spPr>
        <p:txBody>
          <a:bodyPr/>
          <a:lstStyle/>
          <a:p>
            <a:r>
              <a:rPr lang="en-US" dirty="0"/>
              <a:t>Sales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95126" y="1829121"/>
            <a:ext cx="7043618" cy="2233233"/>
          </a:xfrm>
        </p:spPr>
        <p:txBody>
          <a:bodyPr>
            <a:noAutofit/>
          </a:bodyPr>
          <a:lstStyle/>
          <a:p>
            <a:r>
              <a:rPr lang="en-US" sz="1800" dirty="0"/>
              <a:t>This analyzes revenue trends, monthly sales performance, and regional revenue distribution.</a:t>
            </a:r>
          </a:p>
          <a:p>
            <a:endParaRPr lang="en-US" sz="1800" dirty="0"/>
          </a:p>
          <a:p>
            <a:r>
              <a:rPr lang="en-US" sz="1800" dirty="0"/>
              <a:t>Key Insights:</a:t>
            </a:r>
          </a:p>
          <a:p>
            <a:r>
              <a:rPr lang="en-US" sz="1800" dirty="0"/>
              <a:t>• Monthly revenue trends revealed seasonal fluctuations.</a:t>
            </a:r>
          </a:p>
          <a:p>
            <a:r>
              <a:rPr lang="en-US" sz="1800" dirty="0"/>
              <a:t>• Revenue performance differed across countries.</a:t>
            </a:r>
          </a:p>
          <a:p>
            <a:r>
              <a:rPr lang="en-US" sz="1800" dirty="0"/>
              <a:t>• Certain categories generated higher average rental rates.</a:t>
            </a:r>
          </a:p>
          <a:p>
            <a:r>
              <a:rPr lang="en-US" sz="1800" dirty="0"/>
              <a:t>• Rental revenue increased with repeat customer activity.</a:t>
            </a:r>
          </a:p>
          <a:p>
            <a:endParaRPr lang="en-US" sz="1800" dirty="0"/>
          </a:p>
          <a:p>
            <a:r>
              <a:rPr lang="en-US" sz="1800" dirty="0"/>
              <a:t>Visuals Included:</a:t>
            </a:r>
          </a:p>
          <a:p>
            <a:r>
              <a:rPr lang="en-US" sz="1800" dirty="0"/>
              <a:t>• Monthly Revenue Trend</a:t>
            </a:r>
          </a:p>
          <a:p>
            <a:r>
              <a:rPr lang="en-US" sz="1800" dirty="0"/>
              <a:t>• Revenue by Country</a:t>
            </a:r>
          </a:p>
          <a:p>
            <a:r>
              <a:rPr lang="en-US" sz="1800" dirty="0"/>
              <a:t>• Category Revenue Analysis</a:t>
            </a:r>
          </a:p>
          <a:p>
            <a:r>
              <a:rPr lang="en-US" sz="1800" dirty="0"/>
              <a:t>• Average Rental Rate Comparison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1972AC-62C4-97A5-8BED-436125036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" y="47419"/>
            <a:ext cx="4032392" cy="681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96" y="570684"/>
            <a:ext cx="7796464" cy="1222385"/>
          </a:xfrm>
        </p:spPr>
        <p:txBody>
          <a:bodyPr/>
          <a:lstStyle/>
          <a:p>
            <a:r>
              <a:rPr lang="en-US" dirty="0"/>
              <a:t>INVENTORY &amp; STAFF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1" y="1916529"/>
            <a:ext cx="4449452" cy="410719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700" dirty="0"/>
              <a:t>This evaluates inventory availability, store performance, and staff contribution analysis.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Key Insights: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Inventory distribution varied across categories.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Staff performance impacted rental processing efficiency.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Store performance differed by location.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Inventory availability influenced rental frequency.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Visuals Included: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Inventory Distribution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Store-wise Analysis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Staff Performance Metrics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Location-Based Insights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7CCB17-021D-0891-DE72-015B88B7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&amp; INSIGHTS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CF8399-9A39-BDA6-A9F4-DA35A9A38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303028"/>
            <a:ext cx="8088198" cy="4144192"/>
          </a:xfrm>
        </p:spPr>
        <p:txBody>
          <a:bodyPr>
            <a:noAutofit/>
          </a:bodyPr>
          <a:lstStyle/>
          <a:p>
            <a:r>
              <a:rPr lang="en-US" dirty="0"/>
              <a:t>• Repeat customers contributed significantly to total revenue.</a:t>
            </a:r>
          </a:p>
          <a:p>
            <a:endParaRPr lang="en-US" dirty="0"/>
          </a:p>
          <a:p>
            <a:r>
              <a:rPr lang="en-US" dirty="0"/>
              <a:t>• Action and Sports categories showed high rental demand.</a:t>
            </a:r>
          </a:p>
          <a:p>
            <a:endParaRPr lang="en-US" dirty="0"/>
          </a:p>
          <a:p>
            <a:r>
              <a:rPr lang="en-US" dirty="0"/>
              <a:t>• Monthly revenue trends highlighted peak rental periods.</a:t>
            </a:r>
          </a:p>
          <a:p>
            <a:endParaRPr lang="en-US" dirty="0"/>
          </a:p>
          <a:p>
            <a:r>
              <a:rPr lang="en-US" dirty="0"/>
              <a:t>• Revenue distribution varied across countries and cities.</a:t>
            </a:r>
          </a:p>
          <a:p>
            <a:endParaRPr lang="en-US" dirty="0"/>
          </a:p>
          <a:p>
            <a:r>
              <a:rPr lang="en-US" dirty="0"/>
              <a:t>• Inventory availability directly influenced rental frequency.</a:t>
            </a:r>
          </a:p>
          <a:p>
            <a:endParaRPr lang="en-US" dirty="0"/>
          </a:p>
          <a:p>
            <a:r>
              <a:rPr lang="en-US" dirty="0"/>
              <a:t>• Customer behavior patterns supported targeted marketing opportunities.</a:t>
            </a:r>
          </a:p>
          <a:p>
            <a:endParaRPr lang="en-US" dirty="0"/>
          </a:p>
          <a:p>
            <a:r>
              <a:rPr lang="en-US" dirty="0"/>
              <a:t>• Power BI dashboards enabled interactive business performance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73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Technologies Used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Power BI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Data Visualization &amp; Dashboarding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MySQL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Data Querying &amp; Analysis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Excel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EDA &amp; Data Handling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PowerPoint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Presentation &amp; Reporting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Sakila Movie Rental Analytics project successfully transformed raw relational data into meaningful business insights using Power BI.</a:t>
            </a:r>
          </a:p>
          <a:p>
            <a:endParaRPr lang="en-US" sz="1800" dirty="0"/>
          </a:p>
          <a:p>
            <a:r>
              <a:rPr lang="en-US" sz="1800" dirty="0"/>
              <a:t>The dashboard provided comprehensive analysis of customer behavior, sales trends, film performance, inventory management, and regional business performance.</a:t>
            </a:r>
          </a:p>
          <a:p>
            <a:endParaRPr lang="en-US" sz="1800" dirty="0"/>
          </a:p>
          <a:p>
            <a:r>
              <a:rPr lang="en-US" sz="1800" dirty="0"/>
              <a:t>The project demonstrates how data visualization and business intelligence tools can support informed decision-making and improve operational efficiency.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Udita Sarkar</a:t>
            </a:r>
          </a:p>
          <a:p>
            <a:r>
              <a:rPr lang="en-US" dirty="0"/>
              <a:t>uditasarkar9@gmail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98</TotalTime>
  <Words>597</Words>
  <Application>Microsoft Office PowerPoint</Application>
  <PresentationFormat>Widescreen</PresentationFormat>
  <Paragraphs>128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MOVIE RENTAL ANALYTICS DASHBOARD</vt:lpstr>
      <vt:lpstr>Project Overview</vt:lpstr>
      <vt:lpstr>Data Modeling &amp; Relationships  </vt:lpstr>
      <vt:lpstr>CUSTOMER ANALYTICS </vt:lpstr>
      <vt:lpstr>FILM ANALYTICS</vt:lpstr>
      <vt:lpstr>Sales Analytics</vt:lpstr>
      <vt:lpstr>INVENTORY &amp; STAFF ANALYTICS</vt:lpstr>
      <vt:lpstr>KEY FINDINGS &amp; INSIGHTS</vt:lpstr>
      <vt:lpstr>Tools &amp; Technologies Used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Udita Sarkar</dc:creator>
  <cp:lastModifiedBy>Udita Sarkar</cp:lastModifiedBy>
  <cp:revision>2</cp:revision>
  <dcterms:created xsi:type="dcterms:W3CDTF">2026-05-09T19:40:53Z</dcterms:created>
  <dcterms:modified xsi:type="dcterms:W3CDTF">2026-05-10T18:02:29Z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